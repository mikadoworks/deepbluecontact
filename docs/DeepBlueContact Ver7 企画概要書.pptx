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E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300" kern="0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Blue Contact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Ver.7 企画概要書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2743200" cy="0"/>
          </a:xfrm>
          <a:prstGeom prst="line">
            <a:avLst/>
          </a:prstGeom>
          <a:noFill/>
          <a:ln w="12700">
            <a:solidFill>
              <a:srgbClr val="F0C04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Steam版 深海探査シミュレーター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MIKADO WORKS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526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2026/03/04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F0C04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コンセプト＋製品概要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8229600" cy="0"/>
          </a:xfrm>
          <a:prstGeom prst="line">
            <a:avLst/>
          </a:prstGeom>
          <a:noFill/>
          <a:ln w="6350">
            <a:solidFill>
              <a:srgbClr val="F0C04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MIKADO WORKS  |  Deep Blue Contact Ver.7 企画概要書  |  CONFIDENTIAL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深海探査艇で深海を探索し、様々な深海生物を発見・記録する観察型シミュレーター。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探査艇と装備を選び、深海へ送り出し、帰還を待つ。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発見した生物は実写の図鑑に登録され、深海の世界を知る喜びが広がっていく。</a:t>
            </a:r>
            <a:endParaRPr lang="en-US" sz="10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23160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2377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「遊べば進む」設計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60120" y="2606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課金通貨や時短課金は一切なし</a:t>
            </a:r>
            <a:endParaRPr lang="en-US" sz="8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1752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0120" y="2971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ハイブリッド設計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960120" y="3200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眺めても楽しい、放置もできる</a:t>
            </a:r>
            <a:endParaRPr lang="en-US" sz="8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611880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0120" y="3566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教育フレーバー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960120" y="3794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押し付けない知的好奇心の刺激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5394960" y="868680"/>
            <a:ext cx="3383280" cy="3566160"/>
          </a:xfrm>
          <a:prstGeom prst="rect">
            <a:avLst/>
          </a:prstGeom>
          <a:solidFill>
            <a:srgbClr val="0D2240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577840" y="960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製品概要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669280" y="1371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タイトル</a:t>
            </a:r>
            <a:endParaRPr lang="en-US" sz="750" dirty="0"/>
          </a:p>
        </p:txBody>
      </p:sp>
      <p:sp>
        <p:nvSpPr>
          <p:cNvPr id="20" name="Text 15"/>
          <p:cNvSpPr/>
          <p:nvPr/>
        </p:nvSpPr>
        <p:spPr>
          <a:xfrm>
            <a:off x="6949440" y="1371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Blue Contact（仮題）</a:t>
            </a:r>
            <a:endParaRPr lang="en-US" sz="750" dirty="0"/>
          </a:p>
        </p:txBody>
      </p:sp>
      <p:sp>
        <p:nvSpPr>
          <p:cNvPr id="21" name="Shape 16"/>
          <p:cNvSpPr/>
          <p:nvPr/>
        </p:nvSpPr>
        <p:spPr>
          <a:xfrm>
            <a:off x="5669280" y="1673352"/>
            <a:ext cx="2926080" cy="0"/>
          </a:xfrm>
          <a:prstGeom prst="line">
            <a:avLst/>
          </a:prstGeom>
          <a:noFill/>
          <a:ln w="3810">
            <a:solidFill>
              <a:srgbClr val="1A3A5A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669280" y="17190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ジャンル</a:t>
            </a:r>
            <a:endParaRPr lang="en-US" sz="750" dirty="0"/>
          </a:p>
        </p:txBody>
      </p:sp>
      <p:sp>
        <p:nvSpPr>
          <p:cNvPr id="23" name="Text 18"/>
          <p:cNvSpPr/>
          <p:nvPr/>
        </p:nvSpPr>
        <p:spPr>
          <a:xfrm>
            <a:off x="6949440" y="17190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深海探査シミュレーター（観察型放置ゲーム）</a:t>
            </a:r>
            <a:endParaRPr lang="en-US" sz="750" dirty="0"/>
          </a:p>
        </p:txBody>
      </p:sp>
      <p:sp>
        <p:nvSpPr>
          <p:cNvPr id="24" name="Shape 19"/>
          <p:cNvSpPr/>
          <p:nvPr/>
        </p:nvSpPr>
        <p:spPr>
          <a:xfrm>
            <a:off x="5669280" y="2020824"/>
            <a:ext cx="2926080" cy="0"/>
          </a:xfrm>
          <a:prstGeom prst="line">
            <a:avLst/>
          </a:prstGeom>
          <a:noFill/>
          <a:ln w="3810">
            <a:solidFill>
              <a:srgbClr val="1A3A5A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669280" y="20665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プラットフォーム</a:t>
            </a:r>
            <a:endParaRPr lang="en-US" sz="750" dirty="0"/>
          </a:p>
        </p:txBody>
      </p:sp>
      <p:sp>
        <p:nvSpPr>
          <p:cNvPr id="26" name="Text 21"/>
          <p:cNvSpPr/>
          <p:nvPr/>
        </p:nvSpPr>
        <p:spPr>
          <a:xfrm>
            <a:off x="6949440" y="20665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Steam（PC）</a:t>
            </a:r>
            <a:endParaRPr lang="en-US" sz="750" dirty="0"/>
          </a:p>
        </p:txBody>
      </p:sp>
      <p:sp>
        <p:nvSpPr>
          <p:cNvPr id="27" name="Shape 22"/>
          <p:cNvSpPr/>
          <p:nvPr/>
        </p:nvSpPr>
        <p:spPr>
          <a:xfrm>
            <a:off x="5669280" y="2368296"/>
            <a:ext cx="2926080" cy="0"/>
          </a:xfrm>
          <a:prstGeom prst="line">
            <a:avLst/>
          </a:prstGeom>
          <a:noFill/>
          <a:ln w="3810">
            <a:solidFill>
              <a:srgbClr val="1A3A5A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669280" y="24140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ターゲット</a:t>
            </a:r>
            <a:endParaRPr lang="en-US" sz="750" dirty="0"/>
          </a:p>
        </p:txBody>
      </p:sp>
      <p:sp>
        <p:nvSpPr>
          <p:cNvPr id="29" name="Text 24"/>
          <p:cNvSpPr/>
          <p:nvPr/>
        </p:nvSpPr>
        <p:spPr>
          <a:xfrm>
            <a:off x="6949440" y="24140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深海生物好きの大人（メイン）＋子ども</a:t>
            </a:r>
            <a:endParaRPr lang="en-US" sz="750" dirty="0"/>
          </a:p>
        </p:txBody>
      </p:sp>
      <p:sp>
        <p:nvSpPr>
          <p:cNvPr id="30" name="Shape 25"/>
          <p:cNvSpPr/>
          <p:nvPr/>
        </p:nvSpPr>
        <p:spPr>
          <a:xfrm>
            <a:off x="5669280" y="2715768"/>
            <a:ext cx="2926080" cy="0"/>
          </a:xfrm>
          <a:prstGeom prst="line">
            <a:avLst/>
          </a:prstGeom>
          <a:noFill/>
          <a:ln w="3810">
            <a:solidFill>
              <a:srgbClr val="1A3A5A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669280" y="27614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対応言語</a:t>
            </a:r>
            <a:endParaRPr lang="en-US" sz="750" dirty="0"/>
          </a:p>
        </p:txBody>
      </p:sp>
      <p:sp>
        <p:nvSpPr>
          <p:cNvPr id="32" name="Text 27"/>
          <p:cNvSpPr/>
          <p:nvPr/>
        </p:nvSpPr>
        <p:spPr>
          <a:xfrm>
            <a:off x="6949440" y="27614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英語、日本語</a:t>
            </a:r>
            <a:endParaRPr lang="en-US" sz="750" dirty="0"/>
          </a:p>
        </p:txBody>
      </p:sp>
      <p:sp>
        <p:nvSpPr>
          <p:cNvPr id="33" name="Shape 28"/>
          <p:cNvSpPr/>
          <p:nvPr/>
        </p:nvSpPr>
        <p:spPr>
          <a:xfrm>
            <a:off x="5669280" y="3063240"/>
            <a:ext cx="2926080" cy="0"/>
          </a:xfrm>
          <a:prstGeom prst="line">
            <a:avLst/>
          </a:prstGeom>
          <a:noFill/>
          <a:ln w="3810">
            <a:solidFill>
              <a:srgbClr val="1A3A5A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5669280" y="3108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販売形態</a:t>
            </a:r>
            <a:endParaRPr lang="en-US" sz="750" dirty="0"/>
          </a:p>
        </p:txBody>
      </p:sp>
      <p:sp>
        <p:nvSpPr>
          <p:cNvPr id="35" name="Text 30"/>
          <p:cNvSpPr/>
          <p:nvPr/>
        </p:nvSpPr>
        <p:spPr>
          <a:xfrm>
            <a:off x="6949440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Steam買い切り（EA→正式版）</a:t>
            </a:r>
            <a:endParaRPr lang="en-US" sz="750" dirty="0"/>
          </a:p>
        </p:txBody>
      </p:sp>
      <p:sp>
        <p:nvSpPr>
          <p:cNvPr id="36" name="Shape 31"/>
          <p:cNvSpPr/>
          <p:nvPr/>
        </p:nvSpPr>
        <p:spPr>
          <a:xfrm>
            <a:off x="5669280" y="3410712"/>
            <a:ext cx="2926080" cy="0"/>
          </a:xfrm>
          <a:prstGeom prst="line">
            <a:avLst/>
          </a:prstGeom>
          <a:noFill/>
          <a:ln w="3810">
            <a:solidFill>
              <a:srgbClr val="1A3A5A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5669280" y="34564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開発エンジン</a:t>
            </a:r>
            <a:endParaRPr lang="en-US" sz="750" dirty="0"/>
          </a:p>
        </p:txBody>
      </p:sp>
      <p:sp>
        <p:nvSpPr>
          <p:cNvPr id="38" name="Text 33"/>
          <p:cNvSpPr/>
          <p:nvPr/>
        </p:nvSpPr>
        <p:spPr>
          <a:xfrm>
            <a:off x="6949440" y="34564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Godot（2D）</a:t>
            </a:r>
            <a:endParaRPr lang="en-US" sz="750" dirty="0"/>
          </a:p>
        </p:txBody>
      </p:sp>
      <p:sp>
        <p:nvSpPr>
          <p:cNvPr id="39" name="Shape 34"/>
          <p:cNvSpPr/>
          <p:nvPr/>
        </p:nvSpPr>
        <p:spPr>
          <a:xfrm>
            <a:off x="5669280" y="3758184"/>
            <a:ext cx="2926080" cy="0"/>
          </a:xfrm>
          <a:prstGeom prst="line">
            <a:avLst/>
          </a:prstGeom>
          <a:noFill/>
          <a:ln w="3810">
            <a:solidFill>
              <a:srgbClr val="1A3A5A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5669280" y="38039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開発体制</a:t>
            </a:r>
            <a:endParaRPr lang="en-US" sz="750" dirty="0"/>
          </a:p>
        </p:txBody>
      </p:sp>
      <p:sp>
        <p:nvSpPr>
          <p:cNvPr id="41" name="Text 36"/>
          <p:cNvSpPr/>
          <p:nvPr/>
        </p:nvSpPr>
        <p:spPr>
          <a:xfrm>
            <a:off x="6949440" y="38039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個人開発（MIKADO WORKS）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ゲームループ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8229600" cy="0"/>
          </a:xfrm>
          <a:prstGeom prst="line">
            <a:avLst/>
          </a:prstGeom>
          <a:noFill/>
          <a:ln w="6350">
            <a:solidFill>
              <a:srgbClr val="F0C04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MIKADO WORKS  |  Deep Blue Contact Ver.7 企画概要書  |  CONFIDENTIAL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2697480" cy="3200400"/>
          </a:xfrm>
          <a:prstGeom prst="rect">
            <a:avLst/>
          </a:prstGeom>
          <a:solidFill>
            <a:srgbClr val="0D2240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14400"/>
            <a:ext cx="2697480" cy="54864"/>
          </a:xfrm>
          <a:prstGeom prst="rect">
            <a:avLst/>
          </a:prstGeom>
          <a:solidFill>
            <a:srgbClr val="F0C04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探査準備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15544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能動フェーズ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40080" y="187452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深度を選ぶ（4階層）</a:t>
            </a:r>
            <a:endParaRPr lang="en-US" sz="8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探査艇を選ぶ（5〜10種）</a:t>
            </a:r>
            <a:endParaRPr lang="en-US" sz="8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装備パーツを選ぶ（4カテゴリ×各1つ）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200400" y="21945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337560" y="914400"/>
            <a:ext cx="2697480" cy="3200400"/>
          </a:xfrm>
          <a:prstGeom prst="rect">
            <a:avLst/>
          </a:prstGeom>
          <a:solidFill>
            <a:srgbClr val="0D2240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37560" y="914400"/>
            <a:ext cx="2697480" cy="54864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1143000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931920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探査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520440" y="15544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ハイブリッドフェーズ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3520440" y="187452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探査艇を送り出し帰還を待つ</a:t>
            </a:r>
            <a:endParaRPr lang="en-US" sz="8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観察モード: 潜行アニメーション</a:t>
            </a:r>
            <a:endParaRPr lang="en-US" sz="8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時間加速: ×2倍速（時間短縮のみ）</a:t>
            </a:r>
            <a:endParaRPr lang="en-US" sz="8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ランダムイベント自動発生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6080760" y="21945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6217920" y="914400"/>
            <a:ext cx="2697480" cy="3200400"/>
          </a:xfrm>
          <a:prstGeom prst="rect">
            <a:avLst/>
          </a:prstGeom>
          <a:solidFill>
            <a:srgbClr val="0D2240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217920" y="914400"/>
            <a:ext cx="2697480" cy="54864"/>
          </a:xfrm>
          <a:prstGeom prst="rect">
            <a:avLst/>
          </a:prstGeom>
          <a:solidFill>
            <a:srgbClr val="40D870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143000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812280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帰還・結果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400800" y="15544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0D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リザルト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6400800" y="187452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発見生物の報告（ランダム）</a:t>
            </a:r>
            <a:endParaRPr lang="en-US" sz="8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サイズ記録（個体差・最大記録）</a:t>
            </a:r>
            <a:endParaRPr lang="en-US" sz="8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経験値 → レベルアップ</a:t>
            </a:r>
            <a:endParaRPr lang="en-US" sz="8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図鑑に新規登録 or 豆知識追加</a:t>
            </a:r>
            <a:endParaRPr lang="en-US" sz="850" dirty="0"/>
          </a:p>
        </p:txBody>
      </p:sp>
      <p:sp>
        <p:nvSpPr>
          <p:cNvPr id="27" name="Text 22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同時派遣は1隻のみ。シンプルに「今この1回の探査」に集中する設計。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深海へ — 4階層の深度構造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8229600" cy="0"/>
          </a:xfrm>
          <a:prstGeom prst="line">
            <a:avLst/>
          </a:prstGeom>
          <a:noFill/>
          <a:ln w="6350">
            <a:solidFill>
              <a:srgbClr val="F0C04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MIKADO WORKS  |  Deep Blue Contact Ver.7 企画概要書  |  CONFIDENTIAL</a:t>
            </a:r>
            <a:endParaRPr lang="en-US" sz="7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77240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7772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母船（海面）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457200" y="914400"/>
            <a:ext cx="4572000" cy="777240"/>
          </a:xfrm>
          <a:prstGeom prst="rect">
            <a:avLst/>
          </a:prstGeom>
          <a:solidFill>
            <a:srgbClr val="1B5E8A"/>
          </a:solidFill>
          <a:ln w="6350">
            <a:solidFill>
              <a:srgbClr val="1A3A5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960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中深層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1280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200m〜1000m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103120" y="1051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約20分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103120" y="1325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初期エリア。発見率高め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57200" y="1874520"/>
            <a:ext cx="4572000" cy="777240"/>
          </a:xfrm>
          <a:prstGeom prst="rect">
            <a:avLst/>
          </a:prstGeom>
          <a:solidFill>
            <a:srgbClr val="0D3B5E"/>
          </a:solidFill>
          <a:ln w="6350">
            <a:solidFill>
              <a:srgbClr val="1A3A5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1920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漸深層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0080" y="2240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1000m〜3000m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2103120" y="2011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約1時間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103120" y="2286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中級。探査艇アップグレード必要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57200" y="2834640"/>
            <a:ext cx="4572000" cy="777240"/>
          </a:xfrm>
          <a:prstGeom prst="rect">
            <a:avLst/>
          </a:prstGeom>
          <a:solidFill>
            <a:srgbClr val="061E33"/>
          </a:solidFill>
          <a:ln w="6350">
            <a:solidFill>
              <a:srgbClr val="1A3A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2880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深海層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40080" y="3200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3000m〜6000m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103120" y="2971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約3時間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2103120" y="3246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上級。珍しい生物が多い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57200" y="3794760"/>
            <a:ext cx="4572000" cy="777240"/>
          </a:xfrm>
          <a:prstGeom prst="rect">
            <a:avLst/>
          </a:prstGeom>
          <a:solidFill>
            <a:srgbClr val="020D1A"/>
          </a:solidFill>
          <a:ln w="6350">
            <a:solidFill>
              <a:srgbClr val="1A3A5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超深海層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40080" y="4160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6000m以下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2103120" y="39319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約6時間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2103120" y="4206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最終エリア。レア生物、発見率低い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5394960" y="914400"/>
            <a:ext cx="3383280" cy="2743200"/>
          </a:xfrm>
          <a:prstGeom prst="rect">
            <a:avLst/>
          </a:prstGeom>
          <a:solidFill>
            <a:srgbClr val="0D2240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577840" y="1005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アンロックの仕組み</a:t>
            </a:r>
            <a:endParaRPr lang="en-US" sz="1100" dirty="0"/>
          </a:p>
        </p:txBody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481328"/>
            <a:ext cx="201168" cy="201168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989320" y="1463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深度階層の解放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5989320" y="17190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前の階層の図鑑を一定以上埋めると解放</a:t>
            </a:r>
            <a:endParaRPr lang="en-US" sz="800" dirty="0"/>
          </a:p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2121408"/>
            <a:ext cx="201168" cy="201168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5989320" y="21031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探査艇の解放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5989320" y="23591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レベルアップで順次解放</a:t>
            </a:r>
            <a:endParaRPr lang="en-US" sz="800" dirty="0"/>
          </a:p>
        </p:txBody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2761488"/>
            <a:ext cx="201168" cy="201168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5989320" y="27432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装備パーツの解放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5989320" y="29992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図鑑の埋まり具合に応じて解放</a:t>
            </a:r>
            <a:endParaRPr lang="en-US" sz="800" dirty="0"/>
          </a:p>
        </p:txBody>
      </p:sp>
      <p:sp>
        <p:nvSpPr>
          <p:cNvPr id="40" name="Text 34"/>
          <p:cNvSpPr/>
          <p:nvPr/>
        </p:nvSpPr>
        <p:spPr>
          <a:xfrm>
            <a:off x="5669280" y="3200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通貨は一切使わない。全てプレイ進行で解放。</a:t>
            </a:r>
            <a:endParaRPr lang="en-US" sz="800" dirty="0"/>
          </a:p>
        </p:txBody>
      </p:sp>
      <p:sp>
        <p:nvSpPr>
          <p:cNvPr id="41" name="Shape 35"/>
          <p:cNvSpPr/>
          <p:nvPr/>
        </p:nvSpPr>
        <p:spPr>
          <a:xfrm>
            <a:off x="5394960" y="3794760"/>
            <a:ext cx="3383280" cy="777240"/>
          </a:xfrm>
          <a:prstGeom prst="rect">
            <a:avLst/>
          </a:prstGeom>
          <a:solidFill>
            <a:srgbClr val="0D2240"/>
          </a:solidFill>
          <a:ln w="12700">
            <a:solidFill>
              <a:srgbClr val="1A3A5A"/>
            </a:solidFill>
            <a:prstDash val="solid"/>
          </a:ln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0" y="3931920"/>
            <a:ext cx="228600" cy="22860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5897880" y="3886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エンディング</a:t>
            </a:r>
            <a:endParaRPr lang="en-US" sz="1000" dirty="0"/>
          </a:p>
        </p:txBody>
      </p:sp>
      <p:sp>
        <p:nvSpPr>
          <p:cNvPr id="44" name="Text 37"/>
          <p:cNvSpPr/>
          <p:nvPr/>
        </p:nvSpPr>
        <p:spPr>
          <a:xfrm>
            <a:off x="5897880" y="4160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図鑑100種コンプリートで到達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その後もサイズ記録更新で継続プレイ可能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探査準備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8229600" cy="0"/>
          </a:xfrm>
          <a:prstGeom prst="line">
            <a:avLst/>
          </a:prstGeom>
          <a:noFill/>
          <a:ln w="6350">
            <a:solidFill>
              <a:srgbClr val="F0C04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MIKADO WORKS  |  Deep Blue Contact Ver.7 企画概要書  |  CONFIDENTIAL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4389120" cy="1005840"/>
          </a:xfrm>
          <a:prstGeom prst="rect">
            <a:avLst/>
          </a:prstGeom>
          <a:solidFill>
            <a:srgbClr val="0D2240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143000"/>
            <a:ext cx="457200" cy="457200"/>
          </a:xfrm>
          <a:prstGeom prst="ellipse">
            <a:avLst/>
          </a:prstGeom>
          <a:solidFill>
            <a:srgbClr val="F0C04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0D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1005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深度を選ぶ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80160" y="1325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中深層・漸深層・深海層・超深海層の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4階層から探査先を決定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423160" y="19202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148840"/>
            <a:ext cx="4389120" cy="1005840"/>
          </a:xfrm>
          <a:prstGeom prst="rect">
            <a:avLst/>
          </a:prstGeom>
          <a:solidFill>
            <a:srgbClr val="0D2240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377440"/>
            <a:ext cx="457200" cy="457200"/>
          </a:xfrm>
          <a:prstGeom prst="ellipse">
            <a:avLst/>
          </a:prstGeom>
          <a:solidFill>
            <a:srgbClr val="F0C04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0D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2240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探査艇を選ぶ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80160" y="25603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5〜10種類の中から選択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耐圧性能で潜れる深さが決まる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423160" y="31546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4389120" cy="1005840"/>
          </a:xfrm>
          <a:prstGeom prst="rect">
            <a:avLst/>
          </a:prstGeom>
          <a:solidFill>
            <a:srgbClr val="0D2240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611880"/>
            <a:ext cx="457200" cy="457200"/>
          </a:xfrm>
          <a:prstGeom prst="ellipse">
            <a:avLst/>
          </a:prstGeom>
          <a:solidFill>
            <a:srgbClr val="F0C04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0D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3474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装備パーツを選ぶ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80160" y="3794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4カテゴリ×各1つ装着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サーチライト/センサー/カメラ/推進装置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94960" y="914400"/>
            <a:ext cx="3383280" cy="1828800"/>
          </a:xfrm>
          <a:prstGeom prst="rect">
            <a:avLst/>
          </a:prstGeom>
          <a:solidFill>
            <a:srgbClr val="0D2240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7840" y="1005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探査準備 → DIVE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77840" y="13716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メイン画面のDIVEボタンから探査準備画面へ遷移。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深度・艇・装備を選んだら探査開始。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Ver.4/5からの変更: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ミッション制廃止、海域選択廃止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オペレーター廃止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シンプルな3ステップ構造に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394960" y="2926080"/>
            <a:ext cx="3383280" cy="1600200"/>
          </a:xfrm>
          <a:prstGeom prst="rect">
            <a:avLst/>
          </a:prstGeom>
          <a:solidFill>
            <a:srgbClr val="0D2240"/>
          </a:solidFill>
          <a:ln w="12700">
            <a:solidFill>
              <a:srgbClr val="1A3A5A"/>
            </a:solidFill>
            <a:prstDash val="solid"/>
          </a:ln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3063240"/>
            <a:ext cx="228600" cy="22860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5897880" y="3017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観察モード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577840" y="33375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探査艇が深度を降りていく2Dアニメーションを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リアルタイムで眺めるモード。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時間加速（×2倍速）で探査時間短縮。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ボーナスは時間短縮のみ — 発見率・経験値には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影響しない。「義務」ではなく「ご褒美」として機能。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帰還リザルト＋図鑑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8229600" cy="0"/>
          </a:xfrm>
          <a:prstGeom prst="line">
            <a:avLst/>
          </a:prstGeom>
          <a:noFill/>
          <a:ln w="6350">
            <a:solidFill>
              <a:srgbClr val="F0C04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MIKADO WORKS  |  Deep Blue Contact Ver.7 企画概要書  |  CONFIDENTIAL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4114800" cy="3657600"/>
          </a:xfrm>
          <a:prstGeom prst="rect">
            <a:avLst/>
          </a:prstGeom>
          <a:solidFill>
            <a:srgbClr val="0D2240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帰還リザルト画面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発見した生物の報告（ランダム1〜3種）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31520" y="18013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各生物のサイズ記録（個体差あり）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31520" y="21854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図鑑に最大サイズ記録を保存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256946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実写写真 + 生物名 + 基本情報を表示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31520" y="29535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NEW DISCOVERY / 再発見で表示が変わる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31520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再発見時は豆知識追加の演出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31520" y="37216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経験値獲得 → レベルアップで新要素解放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846320" y="914400"/>
            <a:ext cx="3931920" cy="3657600"/>
          </a:xfrm>
          <a:prstGeom prst="rect">
            <a:avLst/>
          </a:prstGeom>
          <a:solidFill>
            <a:srgbClr val="0D2240"/>
          </a:solidFill>
          <a:ln w="12700">
            <a:solidFill>
              <a:srgbClr val="1A3A5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51560"/>
            <a:ext cx="228600" cy="2286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349240" y="1005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0D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図鑑モード（100種）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029200" y="1463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2段階登録制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120640" y="1783080"/>
            <a:ext cx="3474720" cy="594360"/>
          </a:xfrm>
          <a:prstGeom prst="rect">
            <a:avLst/>
          </a:prstGeom>
          <a:solidFill>
            <a:srgbClr val="0A1628"/>
          </a:solidFill>
          <a:ln w="6350">
            <a:solidFill>
              <a:srgbClr val="1A3A5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257800" y="18288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初回発見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257800" y="20574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実写画像 + 生物名 + 基本情報（生息深度、分類等）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120640" y="2514600"/>
            <a:ext cx="3474720" cy="594360"/>
          </a:xfrm>
          <a:prstGeom prst="rect">
            <a:avLst/>
          </a:prstGeom>
          <a:solidFill>
            <a:srgbClr val="0A1628"/>
          </a:solidFill>
          <a:ln w="6350">
            <a:solidFill>
              <a:srgbClr val="1A3A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257800" y="25603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再発見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257800" y="27889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豆知識が追加（生態、特徴、発見の歴史など）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029200" y="32918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サイズ記録システム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029200" y="35661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個体差（揺らぎ）あり → 最大記録を図鑑に保存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実在の最大記録と比較表示で教育要素にもなる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エンディング後の継続プレイ動機として機能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探査艇＋装備パーツ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8229600" cy="0"/>
          </a:xfrm>
          <a:prstGeom prst="line">
            <a:avLst/>
          </a:prstGeom>
          <a:noFill/>
          <a:ln w="6350">
            <a:solidFill>
              <a:srgbClr val="F0C04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MIKADO WORKS  |  Deep Blue Contact Ver.7 企画概要書  |  CONFIDENTIAL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4114800" cy="2377440"/>
          </a:xfrm>
          <a:prstGeom prst="rect">
            <a:avLst/>
          </a:prstGeom>
          <a:solidFill>
            <a:srgbClr val="0D2240"/>
          </a:solidFill>
          <a:ln w="12700">
            <a:solidFill>
              <a:srgbClr val="1A3A5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24128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005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探査艇（5〜10種）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耐圧性能（深度制限）を担う主要要素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31520" y="1755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レベルアップで順次解放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31520" y="20939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上位モデルには無人機スロット付き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31520" y="24323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ROV/AUVを搭載し発見数ボーナス・探索範囲拡大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731520" y="2770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有人×無人の協働 = 現実の深海探査トレンドを反映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846320" y="914400"/>
            <a:ext cx="3931920" cy="2377440"/>
          </a:xfrm>
          <a:prstGeom prst="rect">
            <a:avLst/>
          </a:prstGeom>
          <a:solidFill>
            <a:srgbClr val="0D2240"/>
          </a:solidFill>
          <a:ln w="12700">
            <a:solidFill>
              <a:srgbClr val="1A3A5A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24128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49240" y="1005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装備パーツ（4カテゴリ×5段階）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417320"/>
          <a:ext cx="35661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280160"/>
                <a:gridCol w="128016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0C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カテゴリ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0C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効果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0C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影響する軸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サーチライト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発見率UP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量（何種見つかるか）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センサー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特定生物の遭遇率UP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質（何が見つかるか）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カメラ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図鑑充実度に影響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深度（どこまで埋まるか）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推進装置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探査時間短縮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テンポ（効率）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</a:tr>
            </a:tbl>
          </a:graphicData>
        </a:graphic>
      </p:graphicFrame>
      <p:sp>
        <p:nvSpPr>
          <p:cNvPr id="19" name="Text 14"/>
          <p:cNvSpPr/>
          <p:nvPr/>
        </p:nvSpPr>
        <p:spPr>
          <a:xfrm>
            <a:off x="5029200" y="2880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合計20種（4カテゴリ×5段階）。図鑑の埋まり具合で段階的に解放。</a:t>
            </a:r>
            <a:endParaRPr lang="en-US" sz="750" dirty="0"/>
          </a:p>
        </p:txBody>
      </p:sp>
      <p:sp>
        <p:nvSpPr>
          <p:cNvPr id="20" name="Shape 15"/>
          <p:cNvSpPr/>
          <p:nvPr/>
        </p:nvSpPr>
        <p:spPr>
          <a:xfrm>
            <a:off x="457200" y="3520440"/>
            <a:ext cx="8321040" cy="1051560"/>
          </a:xfrm>
          <a:prstGeom prst="rect">
            <a:avLst/>
          </a:prstGeom>
          <a:solidFill>
            <a:srgbClr val="0D2240"/>
          </a:solidFill>
          <a:ln w="12700">
            <a:solidFill>
              <a:srgbClr val="1A3A5A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630168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6012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探査中イベント（対処不要・自動反映）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731520" y="39319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ポジティブ系: 海底温泉→XPボーナス / 生物の群れ→発見数+1 / 珍しい鉱物→豆知識解放 / くじらの骨→レア遭遇率UP</a:t>
            </a:r>
            <a:endParaRPr lang="en-US" sz="750" dirty="0"/>
          </a:p>
        </p:txBody>
      </p:sp>
      <p:sp>
        <p:nvSpPr>
          <p:cNvPr id="24" name="Text 18"/>
          <p:cNvSpPr/>
          <p:nvPr/>
        </p:nvSpPr>
        <p:spPr>
          <a:xfrm>
            <a:off x="4846320" y="3931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フレーバー系: 生物発光を目撃 / 海底火山を観測 / 沈没船の残骸を通過 / マリンスノーの中を航行 / 不思議な音波をキャッチ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ビジュアル＋教育コンテンツ＋サウンド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8229600" cy="0"/>
          </a:xfrm>
          <a:prstGeom prst="line">
            <a:avLst/>
          </a:prstGeom>
          <a:noFill/>
          <a:ln w="6350">
            <a:solidFill>
              <a:srgbClr val="F0C04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MIKADO WORKS  |  Deep Blue Contact Ver.7 企画概要書  |  CONFIDENTIAL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4114800" cy="2011680"/>
          </a:xfrm>
          <a:prstGeom prst="rect">
            <a:avLst/>
          </a:prstGeom>
          <a:solidFill>
            <a:srgbClr val="0D2240"/>
          </a:solidFill>
          <a:ln w="12700">
            <a:solidFill>
              <a:srgbClr val="1A3A5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24128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005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ビジュアルコンセプト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1371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スタイル: ピクセルアート＋実写ハイブリッド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0080" y="16459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UI・クルー・探査艇 → ピクセルアート（ドット絵）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深海生物 → 実写写真（NOAA/JAMSTEC素材）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ドキュメンタリー的な過剰すぎないトーン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ドット絵UIに実写写真が映えるコントラストが個性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57200" y="3108960"/>
            <a:ext cx="4114800" cy="1417320"/>
          </a:xfrm>
          <a:prstGeom prst="rect">
            <a:avLst/>
          </a:prstGeom>
          <a:solidFill>
            <a:srgbClr val="0D2240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素材調達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080" y="35204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NOAA Ocean Exploration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40080" y="3703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パブリックドメイン。クレジット表記のみで商用利用可  (メイン素材)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40080" y="3977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JAMSTEC J-EDI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40080" y="4160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学術・教育目的は無償、商用は要申請  (補完素材)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4846320" y="914400"/>
            <a:ext cx="3931920" cy="2011680"/>
          </a:xfrm>
          <a:prstGeom prst="rect">
            <a:avLst/>
          </a:prstGeom>
          <a:solidFill>
            <a:srgbClr val="0D2240"/>
          </a:solidFill>
          <a:ln w="12700">
            <a:solidFill>
              <a:srgbClr val="1A3A5A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24128"/>
            <a:ext cx="228600" cy="2286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349240" y="1005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D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教育コンテンツ（フレーバーテキスト）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502920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ゲーム進行に一切影響しない「添え物」。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読むかどうかはプレイヤーの自由。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5120640" y="18745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深海生物の豆知識（図鑑の再発見で追加）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5120640" y="21305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探査クルーの仕事紹介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5120640" y="238658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機材の解説（CTDセンサー等）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5120640" y="264261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深海環境の知識（水圧、熱水噴出孔等）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4846320" y="3108960"/>
            <a:ext cx="3931920" cy="1417320"/>
          </a:xfrm>
          <a:prstGeom prst="rect">
            <a:avLst/>
          </a:prstGeom>
          <a:solidFill>
            <a:srgbClr val="0D2240"/>
          </a:solidFill>
          <a:ln w="12700">
            <a:solidFill>
              <a:srgbClr val="1A3A5A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218688"/>
            <a:ext cx="228600" cy="2286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34924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サウンド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5029200" y="35204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通常画面: アンビエント系BGM（落ち着いた雰囲気）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観察モード: 環境音（水中音、機械音、泡の音等）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ドキュメンタリー的な世界観をサウンドでも表現。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マネタイズ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8229600" cy="0"/>
          </a:xfrm>
          <a:prstGeom prst="line">
            <a:avLst/>
          </a:prstGeom>
          <a:noFill/>
          <a:ln w="6350">
            <a:solidFill>
              <a:srgbClr val="F0C04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MIKADO WORKS  |  Deep Blue Contact Ver.7 企画概要書  |  CONFIDENTIAL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371600" y="1097280"/>
            <a:ext cx="6400800" cy="1371600"/>
          </a:xfrm>
          <a:prstGeom prst="rect">
            <a:avLst/>
          </a:prstGeom>
          <a:solidFill>
            <a:srgbClr val="0D2240"/>
          </a:solidFill>
          <a:ln w="12700">
            <a:solidFill>
              <a:srgbClr val="F0C04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28016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94560" y="1234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Steam 買い切り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2194560" y="16916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ゲーム内通貨なし。時短課金なし。買い切り後は全要素にフルアクセス。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アーリーアクセスから開始し、フィードバックを反映しながら正式版へ移行。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31520" y="2834640"/>
            <a:ext cx="2560320" cy="1554480"/>
          </a:xfrm>
          <a:prstGeom prst="rect">
            <a:avLst/>
          </a:prstGeom>
          <a:solidFill>
            <a:srgbClr val="0D2240"/>
          </a:solidFill>
          <a:ln w="12700">
            <a:solidFill>
              <a:srgbClr val="1A3A5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97180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3444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課金なし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868680" y="33832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ゲーム内通貨・時短課金は一切なし。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全てプレイ進行で解放。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3566160" y="2834640"/>
            <a:ext cx="2560320" cy="1554480"/>
          </a:xfrm>
          <a:prstGeom prst="rect">
            <a:avLst/>
          </a:prstGeom>
          <a:solidFill>
            <a:srgbClr val="0D2240"/>
          </a:solidFill>
          <a:ln w="12700">
            <a:solidFill>
              <a:srgbClr val="1A3A5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297180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06908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ビジュアルで差別化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3703320" y="33832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ピクセルアート＋実写の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ハイブリッドでインディー市場で独自性。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6400800" y="2834640"/>
            <a:ext cx="2560320" cy="1554480"/>
          </a:xfrm>
          <a:prstGeom prst="rect">
            <a:avLst/>
          </a:prstGeom>
          <a:solidFill>
            <a:srgbClr val="0D2240"/>
          </a:solidFill>
          <a:ln w="12700">
            <a:solidFill>
              <a:srgbClr val="1A3A5A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297180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0372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EA→正式版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6537960" y="33832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ウィッシュリストでコミュニティ形成。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フィードバックを反映して正式版へ。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コンテンツ規模＋今後の検討事項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8229600" cy="0"/>
          </a:xfrm>
          <a:prstGeom prst="line">
            <a:avLst/>
          </a:prstGeom>
          <a:noFill/>
          <a:ln w="6350">
            <a:solidFill>
              <a:srgbClr val="F0C04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MIKADO WORKS  |  Deep Blue Contact Ver.7 企画概要書  |  CONFIDENTIAL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4114800" cy="2560320"/>
          </a:xfrm>
          <a:prstGeom prst="rect">
            <a:avLst/>
          </a:prstGeom>
          <a:solidFill>
            <a:srgbClr val="0D2240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コンテンツ規模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3657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0C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項目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0C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数量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深海生物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100種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探査艇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5〜10種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装備パーツ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4カテゴリ×5段階（20種）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海域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1海域×4階層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母船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見た目のみ（演出要素）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0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オペレーター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廃止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846320" y="914400"/>
            <a:ext cx="3931920" cy="3566160"/>
          </a:xfrm>
          <a:prstGeom prst="rect">
            <a:avLst/>
          </a:prstGeom>
          <a:solidFill>
            <a:srgbClr val="0D2240"/>
          </a:solidFill>
          <a:ln w="12700">
            <a:solidFill>
              <a:srgbClr val="1A3A5A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24128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1005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未定・今後検討事項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120640" y="13716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タイトル名（新タイトル検討中）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5120640" y="16002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探査艇の具体的なラインナップ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5120640" y="18288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装備パーツの効果値バランス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5120640" y="20574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100種の深海生物リスト確定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5120640" y="22860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各深度の生物配分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5120640" y="25146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図鑑の解放しきい値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5120640" y="27432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観察モードの演出詳細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5120640" y="29718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Steam価格設定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5120640" y="32004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Steamworks SDK統合方法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5120640" y="34290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JAMSTEC素材利用の申請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5120640" y="36576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潜水ログのテンプレート一覧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5120640" y="38862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サウンド素材の調達方法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5120640" y="41148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アーリーアクセスのロードマップ</a:t>
            </a:r>
            <a:endParaRPr lang="en-US" sz="750" dirty="0"/>
          </a:p>
        </p:txBody>
      </p:sp>
      <p:sp>
        <p:nvSpPr>
          <p:cNvPr id="26" name="Shape 22"/>
          <p:cNvSpPr/>
          <p:nvPr/>
        </p:nvSpPr>
        <p:spPr>
          <a:xfrm>
            <a:off x="457200" y="3657600"/>
            <a:ext cx="4114800" cy="868680"/>
          </a:xfrm>
          <a:prstGeom prst="rect">
            <a:avLst/>
          </a:prstGeom>
          <a:solidFill>
            <a:srgbClr val="0D2240"/>
          </a:solidFill>
          <a:ln w="12700">
            <a:solidFill>
              <a:srgbClr val="1A3A5A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767328"/>
            <a:ext cx="228600" cy="2286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960120" y="3749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母船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640080" y="4023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機能的な役割は廃止。見た目・雰囲気要素として残す。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クルーをクリックすると仕事紹介の豆知識が読める。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4630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300" kern="0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Blue Contact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Ver.7 企画概要書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2743200" cy="0"/>
          </a:xfrm>
          <a:prstGeom prst="line">
            <a:avLst/>
          </a:prstGeom>
          <a:noFill/>
          <a:ln w="12700">
            <a:solidFill>
              <a:srgbClr val="F0C040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MIKADO WORKS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2026/03/04  |  CONFIDENTIAL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F0C04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Blue Contact Ver.7 企画概要書</dc:title>
  <dc:subject>PptxGenJS Presentation</dc:subject>
  <dc:creator>MIKADO WORKS</dc:creator>
  <cp:lastModifiedBy>MIKADO WORKS</cp:lastModifiedBy>
  <cp:revision>1</cp:revision>
  <dcterms:created xsi:type="dcterms:W3CDTF">2026-03-04T07:30:31Z</dcterms:created>
  <dcterms:modified xsi:type="dcterms:W3CDTF">2026-03-04T07:30:31Z</dcterms:modified>
</cp:coreProperties>
</file>